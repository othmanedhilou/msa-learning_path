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731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Learning Path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1F5F9"/>
                </a:solidFill>
              </a:rPr>
              <a:t>Système Multi-Agents pour parcours d'apprentissage adaptatifs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31920"/>
            <a:ext cx="30175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Projet 4   ·   Module 4AISDR   ·   Mai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F5F9"/>
                </a:solidFill>
              </a:rPr>
              <a:t>Équipe : Othmane Dhilou  ·  Dodo  ·  Mohamed Yassir</a:t>
            </a:r>
          </a:p>
          <a:p>
            <a:pPr algn="ctr"/>
            <a:r>
              <a:rPr sz="1400" b="0" i="0">
                <a:solidFill>
                  <a:srgbClr val="F1F5F9"/>
                </a:solidFill>
              </a:rPr>
              <a:t>Encadrants : Pr. Hasnââ CHAABI  ·  Pr. Nadia IDRISSI Zouggari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Plan de la présentation</a:t>
            </a:r>
          </a:p>
          <a:p>
            <a:r>
              <a:rPr sz="1400">
                <a:solidFill>
                  <a:srgbClr val="F1F5F9"/>
                </a:solidFill>
              </a:rPr>
              <a:t>Comment nous allons couvrir le projet en 20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1">
                <a:solidFill>
                  <a:srgbClr val="D97706"/>
                </a:solidFill>
              </a:rPr>
              <a:t>▸ </a:t>
            </a:r>
            <a:r>
              <a:rPr sz="2000">
                <a:solidFill>
                  <a:srgbClr val="0F172A"/>
                </a:solidFill>
              </a:rPr>
              <a:t>Contexte &amp; Problématique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D97706"/>
                </a:solidFill>
              </a:rPr>
              <a:t>▸ </a:t>
            </a:r>
            <a:r>
              <a:rPr sz="2000">
                <a:solidFill>
                  <a:srgbClr val="0F172A"/>
                </a:solidFill>
              </a:rPr>
              <a:t>Architecture du Système Multi-Agents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D97706"/>
                </a:solidFill>
              </a:rPr>
              <a:t>▸ </a:t>
            </a:r>
            <a:r>
              <a:rPr sz="2000">
                <a:solidFill>
                  <a:srgbClr val="0F172A"/>
                </a:solidFill>
              </a:rPr>
              <a:t>Démonstration live (3 profils)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D97706"/>
                </a:solidFill>
              </a:rPr>
              <a:t>▸ </a:t>
            </a:r>
            <a:r>
              <a:rPr sz="2000">
                <a:solidFill>
                  <a:srgbClr val="0F172A"/>
                </a:solidFill>
              </a:rPr>
              <a:t>Choix techniques justifiés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D97706"/>
                </a:solidFill>
              </a:rPr>
              <a:t>▸ </a:t>
            </a:r>
            <a:r>
              <a:rPr sz="2000">
                <a:solidFill>
                  <a:srgbClr val="0F172A"/>
                </a:solidFill>
              </a:rPr>
              <a:t>Conformité au cours (Chapitres 1 à 7)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D97706"/>
                </a:solidFill>
              </a:rPr>
              <a:t>▸ </a:t>
            </a:r>
            <a:r>
              <a:rPr sz="2000">
                <a:solidFill>
                  <a:srgbClr val="0F172A"/>
                </a:solidFill>
              </a:rPr>
              <a:t>Limitations &amp; perspectives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D97706"/>
                </a:solidFill>
              </a:rPr>
              <a:t>▸ </a:t>
            </a:r>
            <a:r>
              <a:rPr sz="2000">
                <a:solidFill>
                  <a:srgbClr val="0F172A"/>
                </a:solidFill>
              </a:rPr>
              <a:t>Questions / Réponses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Contexte &amp; Problématique</a:t>
            </a:r>
          </a:p>
          <a:p>
            <a:r>
              <a:rPr sz="1400">
                <a:solidFill>
                  <a:srgbClr val="F1F5F9"/>
                </a:solidFill>
              </a:rPr>
              <a:t>Pourquoi un SMA pour l'apprentissage adaptatif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>
                <a:solidFill>
                  <a:srgbClr val="B91C1C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Diversité croissante des profils d'étudiants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B91C1C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L'approche unique pour tous montre ses limites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B91C1C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Difficulté d'identifier les vraies lacunes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B91C1C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Surcharge des enseignants pour personnaliser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</a:rPr>
              <a:t>La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1">
                <a:solidFill>
                  <a:srgbClr val="15803D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5 agents spécialisés qui collaborent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15803D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Test adaptatif (IRT simplifié)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15803D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Parcours personnalisé respectant pré-requis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15803D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RAG vectoriel pour ressources pertinentes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15803D"/>
                </a:solidFill>
              </a:rPr>
              <a:t>▸ </a:t>
            </a:r>
            <a:r>
              <a:rPr sz="1500">
                <a:solidFill>
                  <a:srgbClr val="0F172A"/>
                </a:solidFill>
              </a:rPr>
              <a:t>Répétition espacée SM-2 (algorithme Anki)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1A3A6E"/>
                </a:solidFill>
              </a:rPr>
              <a:t>💡 Un système qui s'adapte à chaque apprenant — automatiquement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Architecture multi-agents</a:t>
            </a:r>
          </a:p>
          <a:p>
            <a:r>
              <a:rPr sz="1400">
                <a:solidFill>
                  <a:srgbClr val="F1F5F9"/>
                </a:solidFill>
              </a:rPr>
              <a:t>5 agents spécialisés orchestrés par 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1031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A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54864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Diagnosticien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Test adaptatif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+ identification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des lacunes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71600"/>
            <a:ext cx="21031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C5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371600"/>
            <a:ext cx="2103120" cy="548640"/>
          </a:xfrm>
          <a:prstGeom prst="rect">
            <a:avLst/>
          </a:prstGeom>
          <a:solidFill>
            <a:srgbClr val="2C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Planificateur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Parcours ordonné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+ Chain-of-Thought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(Mind Layer)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1031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10312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Pédagogue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RAG vectoriel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Chroma +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embeddings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371600"/>
            <a:ext cx="21031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371600"/>
            <a:ext cx="2103120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Répétition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espacée SM-2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(Anki)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371600"/>
            <a:ext cx="2103120" cy="32004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371600"/>
            <a:ext cx="2103120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011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F172A"/>
                </a:solidFill>
              </a:rP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Mémoire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long-terme</a:t>
            </a:r>
          </a:p>
          <a:p>
            <a:pPr algn="ctr"/>
            <a:r>
              <a:rPr sz="1100" b="0" i="0">
                <a:solidFill>
                  <a:srgbClr val="0F172A"/>
                </a:solidFill>
              </a:rPr>
              <a:t>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1A3A6E"/>
                </a:solidFill>
              </a:rPr>
              <a:t>Communication inter-agents via protocole A2A inspiré FIPA-ACL</a:t>
            </a:r>
          </a:p>
          <a:p>
            <a:pPr algn="ctr"/>
            <a:r>
              <a:rPr sz="1500" b="1" i="1">
                <a:solidFill>
                  <a:srgbClr val="1A3A6E"/>
                </a:solidFill>
              </a:rPr>
              <a:t>Orchestration par LangGraph avec State partagé + Conditional Edges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Orchestration LangGraph</a:t>
            </a:r>
          </a:p>
          <a:p>
            <a:r>
              <a:rPr sz="1400">
                <a:solidFill>
                  <a:srgbClr val="F1F5F9"/>
                </a:solidFill>
              </a:rPr>
              <a:t>State + Nodes + Edges + Conditional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                  ┌─────────┐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│  START  │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└────┬────┘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 ▼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┌────────────────┐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│  Diagnosticien │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└────────┬───────┘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 │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╔══════╧══════╗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║ Conditional ║   ← cœur LangGraph !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╚══════╤══════╝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≥80%    │    &lt;80%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┌────────┘      └────────┐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▼                        ▼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┌──────────┐         ┌────────────────┐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│  Coach   │         │ Planificateur  │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│ (direct) │         └────────┬───────┘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└────┬─────┘                  ▼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│              ┌──────────────────┐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│              │    Pédagogue     │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│              └──────────┬───────┘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│                         ▼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│                  ┌──────────┐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│                  │  Coach   │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│                  └────┬─────┘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└──────────────────────┘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      ▼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┌──────────┐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│ Tracker  │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└─────┬────┘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      ▼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  ┌───────┐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  │  END  │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              └───────┘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280160"/>
            <a:ext cx="365760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97706"/>
                </a:solidFill>
              </a:rPr>
              <a:t>Conditional Edge</a:t>
            </a:r>
          </a:p>
          <a:p>
            <a:pPr algn="ctr"/>
            <a:r>
              <a:rPr sz="1400" b="1" i="0">
                <a:solidFill>
                  <a:srgbClr val="D97706"/>
                </a:solidFill>
              </a:rPr>
              <a:t>(valeur ajoutée majeure de LangGraph vs LangChain)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3774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def route_after_diagnostic(state):</a:t>
            </a:r>
          </a:p>
          <a:p>
            <a:pPr algn="l"/>
            <a:r>
              <a:rPr sz="1000" b="0" i="0">
                <a:solidFill>
                  <a:srgbClr val="0F172A"/>
                </a:solidFill>
              </a:rPr>
              <a:t>    if state['diagnostic']['pourcentage'] &gt;= 80:</a:t>
            </a:r>
          </a:p>
          <a:p>
            <a:pPr algn="l"/>
            <a:r>
              <a:rPr sz="1000" b="0" i="0">
                <a:solidFill>
                  <a:srgbClr val="0F172A"/>
                </a:solidFill>
              </a:rPr>
              <a:t>        return 'coach'      # skip planif !</a:t>
            </a:r>
          </a:p>
          <a:p>
            <a:pPr algn="l"/>
            <a:r>
              <a:rPr sz="1000" b="0" i="0">
                <a:solidFill>
                  <a:srgbClr val="0F172A"/>
                </a:solidFill>
              </a:rPr>
              <a:t>    return 'planificateur'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114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Si score ≥ 80% : skip planif + pédagogue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Sinon : parcours complet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Économie démontrable en démo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Conforme cours Ch.5 LangGraph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Communication inter-agents (A2A)</a:t>
            </a:r>
          </a:p>
          <a:p>
            <a:r>
              <a:rPr sz="1400">
                <a:solidFill>
                  <a:srgbClr val="F1F5F9"/>
                </a:solidFill>
              </a:rPr>
              <a:t>Protocole inspiré FIPA-ACL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Format de message standardisé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{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"msg_id": "uuid-1234",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"timestamp": "10:23:45",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"from": "Orchestrateur",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"to": "Diagnosticien",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"performative": "REQUEST",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"content": {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  "action": "run_diagnostic",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  "module": "MSA"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},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  "conversation_id": "session-001"</a:t>
            </a:r>
          </a:p>
          <a:p>
            <a:pPr algn="l"/>
            <a:r>
              <a:rPr sz="1200" b="0" i="0">
                <a:solidFill>
                  <a:srgbClr val="0F172A"/>
                </a:solidFill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Performatives FIPA-ACL utilisées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E"/>
                </a:solidFill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demande une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</a:rPr>
              <a:t>INFORM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transmet une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demande une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AA0"/>
                </a:solidFill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confirme un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</a:rPr>
              <a:t>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signale un échec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D97706"/>
                </a:solidFill>
              </a:rPr>
              <a:t>💡 Visible en direct dans la timeline Streamlit pendant la démo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RAG vectoriel</a:t>
            </a:r>
          </a:p>
          <a:p>
            <a:r>
              <a:rPr sz="1400">
                <a:solidFill>
                  <a:srgbClr val="F1F5F9"/>
                </a:solidFill>
              </a:rPr>
              <a:t>Chroma + Embeddings multilingues (Ch. 2 du cours)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Pipeline d'indexation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D97706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1. Charger ressources.json + textes .txt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D97706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2. Chunking récursif (¶ → ligne → phrase → mot)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D97706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3. Embedding via multilingual-MiniLM (384 dim)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D97706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4. Indexation Chroma (persistance SQLite)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D97706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5. À la query : similarité cosine + top-K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Justification des choix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5803D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Chroma : persistance auto + métadonnées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5803D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multilingual-MiniLM : 384 dim, FR + EN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5803D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Gratuit, local (pas d'API requise)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5803D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RecursiveCharacterTextSplitter (cours Ch.2)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5803D"/>
                </a:solidFill>
              </a:rPr>
              <a:t>▸ </a:t>
            </a:r>
            <a:r>
              <a:rPr sz="1400">
                <a:solidFill>
                  <a:srgbClr val="0F172A"/>
                </a:solidFill>
              </a:rPr>
              <a:t>Cosine similarity (standard du domaine)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3A6E"/>
                </a:solidFill>
              </a:rPr>
              <a:t>Exemple : query='K-Means partitionnement' → score 0.634 sur 'K-Means Clustering'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MCP (Model Context Protocol)</a:t>
            </a:r>
          </a:p>
          <a:p>
            <a:r>
              <a:rPr sz="1400">
                <a:solidFill>
                  <a:srgbClr val="F1F5F9"/>
                </a:solidFill>
              </a:rPr>
              <a:t>Standard ouvert Anthropic — l'USB-C du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D97706"/>
                </a:solidFill>
              </a:rPr>
              <a:t>« MCP est au LLM ce que l'USB-C est au téléphone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6E"/>
                </a:solidFill>
              </a:rPr>
              <a:t>3 outils @mcp.tool() exposés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search_ressources_rag(query,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→ Recherche RAG via Chroma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compute_sm2_schedule(notion, 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→ Algorithme de répétition espacée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update_profile_ltm(etudiant)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8404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→ Mémoire long-terme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6E"/>
                </a:solidFill>
              </a:rPr>
              <a:t>Avantages dans notre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Isolation processus (sous-process stdio)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Démarrage embedding ne bloque pas l'UI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Réutilisable par d'autres projets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Conforme au standard de l'industrie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5803D"/>
                </a:solidFill>
              </a:rPr>
              <a:t>▸ </a:t>
            </a:r>
            <a:r>
              <a:rPr sz="1200">
                <a:solidFill>
                  <a:srgbClr val="0F172A"/>
                </a:solidFill>
              </a:rPr>
              <a:t>Sécurité (variables d'env, pas de secrets en dur)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Mind Layer — LLM + Chain-of-Thought</a:t>
            </a:r>
          </a:p>
          <a:p>
            <a:r>
              <a:rPr sz="1400">
                <a:solidFill>
                  <a:srgbClr val="F1F5F9"/>
                </a:solidFill>
              </a:rPr>
              <a:t>Conforme Ch.1 (Prompt Engineering) + Ch.3 (Agentic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A6E"/>
                </a:solidFill>
              </a:rPr>
              <a:t>Le Planificateur a un cerveau (Mind)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Détection auto du LLM disponible :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   OpenRouter / OpenAI / Gemini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Fallback déterministe (templates CoT)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Aucun secret en dur (variables d'env)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@wrap_model_call compatible (Ch.4)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Exemple de raisonnement CoT généré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48640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Étape 1 — Analyse : Score 50%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avec 2 lacunes sur notions avancées.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Étape 2 — Identification des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prérequis : les notions maîtrisées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servent de fondation.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Étape 3 — Construction du parcours :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2 étapes ordonnées par complexité.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Étape 4 — SM-2 : intervalles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progressifs (1j → 6j → 15j)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Démo 1 — Amina (débutante)</a:t>
            </a:r>
          </a:p>
          <a:p>
            <a:r>
              <a:rPr sz="1400">
                <a:solidFill>
                  <a:srgbClr val="F1F5F9"/>
                </a:solidFill>
              </a:rPr>
              <a:t>Score 0% → parcours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Amina, débutante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Module : MSA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Score initial : 0%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4 lacunes détectées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Chemin parcouru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A3A6E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Diagnosticien (4 questions)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A3A6E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Planificateur (parcours 4 étapes)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A3A6E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Pédagogue (5 ressources RAG)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A3A6E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Coach (SM-2 → demain)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A3A6E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Tracker (sauvé profil)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188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Résultats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373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📊 4 étapes parcours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📚 5 ressources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📨 11 messages A2A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📅 Révision demain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D97706"/>
                </a:solidFill>
              </a:rPr>
              <a:t>💡 Démo live — montrer la timeline A2A et le raisonnement CoT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Démo 3 — Sarah (avancée)</a:t>
            </a:r>
          </a:p>
          <a:p>
            <a:r>
              <a:rPr sz="1400">
                <a:solidFill>
                  <a:srgbClr val="F1F5F9"/>
                </a:solidFill>
              </a:rPr>
              <a:t>Score 100% → Conditional Edge déclenchée (saut du parcours)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Sarah, étudiante avancée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Module : MSA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Score initial : 100%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Aucune lacune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Chemin parcouru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Diagnosticien (4 questions)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❌ Planificateur SKIPPED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❌ Pédagogue SKIPPED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✅ Coach direct (SM-2)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D97706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✅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188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Économie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373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📊 0 étape parcours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📚 0 ressource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📨 7 msg A2A (vs 11)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⏱ -36% de calculs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🎯 Conditional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B91C1C"/>
                </a:solidFill>
              </a:rPr>
              <a:t>🏆 C'est ICI qu'on prouve la valeur ajoutée de LangGraph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Stack technique</a:t>
            </a:r>
          </a:p>
          <a:p>
            <a:r>
              <a:rPr sz="1400">
                <a:solidFill>
                  <a:srgbClr val="F1F5F9"/>
                </a:solidFill>
              </a:rPr>
              <a:t>Une technologie par exigence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Ch.5 — State + Nodes + Conditional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LLM (Mind)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OpenRouter /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Ch.1 — Chain-of-Thought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Outils (Body)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MCP + FastMCP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Ch.6 — @mcp.tool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Chroma + multilingual-MiniLM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Ch.2 — chunking +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Mémoire 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InMemorySaver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Ch.3 — checkpointing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Mémoire 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JSON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Ch.3 —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Répétition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SuperMemo-2 (Anki)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Sujet du projet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Comm.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A2A FIPA-ACL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Ch.7 — SMA &amp; A2A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Streamlit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Démo visuelle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6E"/>
                </a:solidFill>
              </a:rPr>
              <a:t>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pytest (15 tests)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Qualité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Conformité au cours</a:t>
            </a:r>
          </a:p>
          <a:p>
            <a:r>
              <a:rPr sz="1400">
                <a:solidFill>
                  <a:srgbClr val="F1F5F9"/>
                </a:solidFill>
              </a:rPr>
              <a:t>Mapping projet ↔ chapitres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Ch.1 — Prompt Engineering (CoT, ReAct)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mind_layer.py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4864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7451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Ch.2 — RAG (Chunking + Embeddings)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rag_engine.py (Chroma)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54864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68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Ch.3 — Agentic AI (Body/Mind/Memory)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orchestrator.py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Ch.4 — LangChain + Middlewares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63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wrap_model_call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4864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Ch.5 — LangGraph (State/Nodes/Edges)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orchestrator.py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54864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51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251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Ch.6 — MCP (FastMCP + @mcp.tool)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251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learning_tools_server.py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54864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Ch.7 — SMA &amp; A2A (FIPA-ACL)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a2a_protocol.py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Pourquoi ces choix ?</a:t>
            </a:r>
          </a:p>
          <a:p>
            <a:r>
              <a:rPr sz="1400">
                <a:solidFill>
                  <a:srgbClr val="F1F5F9"/>
                </a:solidFill>
              </a:rPr>
              <a:t>Anticipation des questions du jury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Pourquoi LangGraph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Logique non linéaire avec conditional edges (impossible en LangChain pur)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Pourquoi Chroma et pas FAISS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Métadonnées + persistance + 20 ressources (FAISS = surdesign)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Pourquoi MCP en plus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743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Chapitre majeur du cours + isolation + réutilisabilité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Pourquoi SM-2 et pas règles simples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520439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Algorithme de référence (Anki), exigé par le sujet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Pourquoi un LLM fallback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29768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Démo garantie même sans Internet (jour 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Pourquoi A2A FIPA-ACL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0749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Standard SMA + visibilité au jury via timeline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Tests unitaires</a:t>
            </a:r>
          </a:p>
          <a:p>
            <a:r>
              <a:rPr sz="1400">
                <a:solidFill>
                  <a:srgbClr val="F1F5F9"/>
                </a:solidFill>
              </a:rPr>
              <a:t>15 tests pytest — qualité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Lancement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$ pytest tests/ -v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</a:rPr>
              <a:t>→ 15 passed in ~1s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Couverture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TestConditionalEdge (5 tests)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TestA2AProtocol (4 tests)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TestSessionsIntegration (5 tests)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TestNodesIsolation (1 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6E"/>
                </a:solidFill>
              </a:rPr>
              <a:t>Exemple de test critique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48640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def test_avance_route_vers_coach():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"""Score &gt;= 80% doit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router vers coach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(skip planificateur)."""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state = {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'diagnostic': {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    'pourcentage': 85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    }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}</a:t>
            </a:r>
          </a:p>
          <a:p>
            <a:pPr algn="l"/>
            <a:r>
              <a:rPr sz="1100" b="0" i="0">
                <a:solidFill>
                  <a:srgbClr val="0F172A"/>
                </a:solidFill>
              </a:rPr>
              <a:t>    assert route_after_diagnostic(state) == 'coach'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Limitations &amp; Perspectives</a:t>
            </a:r>
          </a:p>
          <a:p>
            <a:r>
              <a:rPr sz="1400">
                <a:solidFill>
                  <a:srgbClr val="F1F5F9"/>
                </a:solidFill>
              </a:rPr>
              <a:t>Honnêteté intellectuelle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</a:rPr>
              <a:t>Limitations actuelles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Scope académique : 4 notions × 5 modules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Pas d'A/B test pédagogique réel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Corpus RAG limité à 8 fichiers texte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Pas d'agent générateur d'exercices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B91C1C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Diagnostic adaptatif IRT-simplifié (pas complet)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5803D"/>
                </a:solidFill>
              </a:rPr>
              <a:t>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Multi-langue (embeddings déjà multilingues)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IRT complet (Item Response Theory)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Intégration LMS (Moodle, Canvas) via MCP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6e agent générateur d'exercices (LLM)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Métriques d'efficacité pédagogique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803D"/>
                </a:solidFill>
              </a:rPr>
              <a:t>▸ </a:t>
            </a:r>
            <a:r>
              <a:rPr sz="1300">
                <a:solidFill>
                  <a:srgbClr val="0F172A"/>
                </a:solidFill>
              </a:rPr>
              <a:t>Déploiement cloud (Streamlit Cloud)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731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Récapitulatif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503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D97706"/>
                </a:solidFill>
              </a:rPr>
              <a:t>✓ </a:t>
            </a:r>
            <a:r>
              <a:rPr sz="1600">
                <a:solidFill>
                  <a:srgbClr val="FFFFFF"/>
                </a:solidFill>
              </a:rPr>
              <a:t>5 agents spécialisés orchestrés par LangGraph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D97706"/>
                </a:solidFill>
              </a:rPr>
              <a:t>✓ </a:t>
            </a:r>
            <a:r>
              <a:rPr sz="1600">
                <a:solidFill>
                  <a:srgbClr val="FFFFFF"/>
                </a:solidFill>
              </a:rPr>
              <a:t>Conditional Edge démontrable (Sarah : -36% calculs)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D97706"/>
                </a:solidFill>
              </a:rPr>
              <a:t>✓ </a:t>
            </a:r>
            <a:r>
              <a:rPr sz="1600">
                <a:solidFill>
                  <a:srgbClr val="FFFFFF"/>
                </a:solidFill>
              </a:rPr>
              <a:t>RAG vectoriel Chroma + embeddings multilingues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D97706"/>
                </a:solidFill>
              </a:rPr>
              <a:t>✓ </a:t>
            </a:r>
            <a:r>
              <a:rPr sz="1600">
                <a:solidFill>
                  <a:srgbClr val="FFFFFF"/>
                </a:solidFill>
              </a:rPr>
              <a:t>3 outils MCP + Mind Layer LLM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D97706"/>
                </a:solidFill>
              </a:rPr>
              <a:t>✓ </a:t>
            </a:r>
            <a:r>
              <a:rPr sz="1600">
                <a:solidFill>
                  <a:srgbClr val="FFFFFF"/>
                </a:solidFill>
              </a:rPr>
              <a:t>Communication A2A FIPA-ACL avec timeline visuelle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D97706"/>
                </a:solidFill>
              </a:rPr>
              <a:t>✓ </a:t>
            </a:r>
            <a:r>
              <a:rPr sz="1600">
                <a:solidFill>
                  <a:srgbClr val="FFFFFF"/>
                </a:solidFill>
              </a:rPr>
              <a:t>15 tests pytest validés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D97706"/>
                </a:solidFill>
              </a:rPr>
              <a:t>✓ </a:t>
            </a:r>
            <a:r>
              <a:rPr sz="1600">
                <a:solidFill>
                  <a:srgbClr val="FFFFFF"/>
                </a:solidFill>
              </a:rPr>
              <a:t>Conforme à tous les chapitres du cours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1A3A6E"/>
                </a:solidFill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3A6E"/>
                </a:solidFill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64748B"/>
                </a:solidFill>
              </a:rP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Équipe : Othmane · Dodo · Mohamed Yassir   |   Projet 4 · 4AISDR ·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